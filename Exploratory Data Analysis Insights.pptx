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0" r:id="rId5"/>
    <p:sldId id="261" r:id="rId6"/>
    <p:sldId id="262" r:id="rId7"/>
    <p:sldId id="263" r:id="rId8"/>
    <p:sldId id="264"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18A823C-17D3-44D8-AD26-4A19B74DBD65}">
          <p14:sldIdLst>
            <p14:sldId id="257"/>
            <p14:sldId id="258"/>
            <p14:sldId id="259"/>
            <p14:sldId id="260"/>
            <p14:sldId id="261"/>
            <p14:sldId id="262"/>
            <p14:sldId id="263"/>
            <p14:sldId id="264"/>
            <p14:sldId id="266"/>
            <p14:sldId id="267"/>
            <p14:sldId id="26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1037"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3AE23-98AD-45E7-8B9C-C9B9C8466B13}" type="datetimeFigureOut">
              <a:rPr lang="en-IN" smtClean="0"/>
              <a:t>12-12-2025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59C611-3676-4D20-B56F-D0239847AB9E}" type="slidenum">
              <a:rPr lang="en-IN" smtClean="0"/>
              <a:t>‹#›</a:t>
            </a:fld>
            <a:endParaRPr lang="en-IN"/>
          </a:p>
        </p:txBody>
      </p:sp>
    </p:spTree>
    <p:extLst>
      <p:ext uri="{BB962C8B-B14F-4D97-AF65-F5344CB8AC3E}">
        <p14:creationId xmlns:p14="http://schemas.microsoft.com/office/powerpoint/2010/main" val="2429467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59C611-3676-4D20-B56F-D0239847AB9E}" type="slidenum">
              <a:rPr lang="en-IN" smtClean="0"/>
              <a:t>11</a:t>
            </a:fld>
            <a:endParaRPr lang="en-IN"/>
          </a:p>
        </p:txBody>
      </p:sp>
    </p:spTree>
    <p:extLst>
      <p:ext uri="{BB962C8B-B14F-4D97-AF65-F5344CB8AC3E}">
        <p14:creationId xmlns:p14="http://schemas.microsoft.com/office/powerpoint/2010/main" val="2980797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93DA5-B141-D87C-5B85-81B2C9C778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541175B-A752-6861-D352-1BD1DC79EC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7EB434-E0DF-7C06-B298-EE1DD274184B}"/>
              </a:ext>
            </a:extLst>
          </p:cNvPr>
          <p:cNvSpPr>
            <a:spLocks noGrp="1"/>
          </p:cNvSpPr>
          <p:nvPr>
            <p:ph type="dt" sz="half" idx="10"/>
          </p:nvPr>
        </p:nvSpPr>
        <p:spPr/>
        <p:txBody>
          <a:bodyPr/>
          <a:lstStyle/>
          <a:p>
            <a:fld id="{50F2F1EC-AB26-4347-B6C6-0493F9095FCF}" type="datetimeFigureOut">
              <a:rPr lang="en-IN" smtClean="0"/>
              <a:t>12-12-2025</a:t>
            </a:fld>
            <a:endParaRPr lang="en-IN"/>
          </a:p>
        </p:txBody>
      </p:sp>
      <p:sp>
        <p:nvSpPr>
          <p:cNvPr id="5" name="Footer Placeholder 4">
            <a:extLst>
              <a:ext uri="{FF2B5EF4-FFF2-40B4-BE49-F238E27FC236}">
                <a16:creationId xmlns:a16="http://schemas.microsoft.com/office/drawing/2014/main" id="{22DCA41B-D5F3-EA59-78D2-52B890FE14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B1EDE2-302E-DA3A-A355-2E7C07B79B5A}"/>
              </a:ext>
            </a:extLst>
          </p:cNvPr>
          <p:cNvSpPr>
            <a:spLocks noGrp="1"/>
          </p:cNvSpPr>
          <p:nvPr>
            <p:ph type="sldNum" sz="quarter" idx="12"/>
          </p:nvPr>
        </p:nvSpPr>
        <p:spPr/>
        <p:txBody>
          <a:bodyPr/>
          <a:lstStyle/>
          <a:p>
            <a:fld id="{FBC72C5D-EA01-4D80-A3B5-8064CB2CA7CE}" type="slidenum">
              <a:rPr lang="en-IN" smtClean="0"/>
              <a:t>‹#›</a:t>
            </a:fld>
            <a:endParaRPr lang="en-IN"/>
          </a:p>
        </p:txBody>
      </p:sp>
    </p:spTree>
    <p:extLst>
      <p:ext uri="{BB962C8B-B14F-4D97-AF65-F5344CB8AC3E}">
        <p14:creationId xmlns:p14="http://schemas.microsoft.com/office/powerpoint/2010/main" val="4033538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E5F87-5E83-4788-0889-9ABC39C23A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978819-3EB8-C407-7BB6-0A49599178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F8BC91-8B59-3664-0B20-20C7C4CFB095}"/>
              </a:ext>
            </a:extLst>
          </p:cNvPr>
          <p:cNvSpPr>
            <a:spLocks noGrp="1"/>
          </p:cNvSpPr>
          <p:nvPr>
            <p:ph type="dt" sz="half" idx="10"/>
          </p:nvPr>
        </p:nvSpPr>
        <p:spPr/>
        <p:txBody>
          <a:bodyPr/>
          <a:lstStyle/>
          <a:p>
            <a:fld id="{50F2F1EC-AB26-4347-B6C6-0493F9095FCF}" type="datetimeFigureOut">
              <a:rPr lang="en-IN" smtClean="0"/>
              <a:t>12-12-2025</a:t>
            </a:fld>
            <a:endParaRPr lang="en-IN"/>
          </a:p>
        </p:txBody>
      </p:sp>
      <p:sp>
        <p:nvSpPr>
          <p:cNvPr id="5" name="Footer Placeholder 4">
            <a:extLst>
              <a:ext uri="{FF2B5EF4-FFF2-40B4-BE49-F238E27FC236}">
                <a16:creationId xmlns:a16="http://schemas.microsoft.com/office/drawing/2014/main" id="{FA461E51-D3F1-38E6-2D74-B7AA5A512B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048912-DF87-00D2-DD36-7AF35F6DD889}"/>
              </a:ext>
            </a:extLst>
          </p:cNvPr>
          <p:cNvSpPr>
            <a:spLocks noGrp="1"/>
          </p:cNvSpPr>
          <p:nvPr>
            <p:ph type="sldNum" sz="quarter" idx="12"/>
          </p:nvPr>
        </p:nvSpPr>
        <p:spPr/>
        <p:txBody>
          <a:bodyPr/>
          <a:lstStyle/>
          <a:p>
            <a:fld id="{FBC72C5D-EA01-4D80-A3B5-8064CB2CA7CE}" type="slidenum">
              <a:rPr lang="en-IN" smtClean="0"/>
              <a:t>‹#›</a:t>
            </a:fld>
            <a:endParaRPr lang="en-IN"/>
          </a:p>
        </p:txBody>
      </p:sp>
    </p:spTree>
    <p:extLst>
      <p:ext uri="{BB962C8B-B14F-4D97-AF65-F5344CB8AC3E}">
        <p14:creationId xmlns:p14="http://schemas.microsoft.com/office/powerpoint/2010/main" val="1697933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8102C-C96E-A3FD-83C0-67D1BB210C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A4ECFE-295F-5B7D-F125-7284BEB1D6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F5494C-DBB0-418E-C150-CFA3F801E635}"/>
              </a:ext>
            </a:extLst>
          </p:cNvPr>
          <p:cNvSpPr>
            <a:spLocks noGrp="1"/>
          </p:cNvSpPr>
          <p:nvPr>
            <p:ph type="dt" sz="half" idx="10"/>
          </p:nvPr>
        </p:nvSpPr>
        <p:spPr/>
        <p:txBody>
          <a:bodyPr/>
          <a:lstStyle/>
          <a:p>
            <a:fld id="{50F2F1EC-AB26-4347-B6C6-0493F9095FCF}" type="datetimeFigureOut">
              <a:rPr lang="en-IN" smtClean="0"/>
              <a:t>12-12-2025</a:t>
            </a:fld>
            <a:endParaRPr lang="en-IN"/>
          </a:p>
        </p:txBody>
      </p:sp>
      <p:sp>
        <p:nvSpPr>
          <p:cNvPr id="5" name="Footer Placeholder 4">
            <a:extLst>
              <a:ext uri="{FF2B5EF4-FFF2-40B4-BE49-F238E27FC236}">
                <a16:creationId xmlns:a16="http://schemas.microsoft.com/office/drawing/2014/main" id="{5D118008-81B3-5E5C-95A4-8198A89154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57866B-8D44-3D46-8495-A7B1E5C90B65}"/>
              </a:ext>
            </a:extLst>
          </p:cNvPr>
          <p:cNvSpPr>
            <a:spLocks noGrp="1"/>
          </p:cNvSpPr>
          <p:nvPr>
            <p:ph type="sldNum" sz="quarter" idx="12"/>
          </p:nvPr>
        </p:nvSpPr>
        <p:spPr/>
        <p:txBody>
          <a:bodyPr/>
          <a:lstStyle/>
          <a:p>
            <a:fld id="{FBC72C5D-EA01-4D80-A3B5-8064CB2CA7CE}" type="slidenum">
              <a:rPr lang="en-IN" smtClean="0"/>
              <a:t>‹#›</a:t>
            </a:fld>
            <a:endParaRPr lang="en-IN"/>
          </a:p>
        </p:txBody>
      </p:sp>
    </p:spTree>
    <p:extLst>
      <p:ext uri="{BB962C8B-B14F-4D97-AF65-F5344CB8AC3E}">
        <p14:creationId xmlns:p14="http://schemas.microsoft.com/office/powerpoint/2010/main" val="188612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29849-E34A-E806-6D6E-CEC7C9A098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9A67D0-A0E3-A478-DC26-69F41F8E79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BE5E3D7-49FD-9D35-51B2-248EEC3093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3DBC49F-8011-E864-9579-E7E8D439304E}"/>
              </a:ext>
            </a:extLst>
          </p:cNvPr>
          <p:cNvSpPr>
            <a:spLocks noGrp="1"/>
          </p:cNvSpPr>
          <p:nvPr>
            <p:ph type="dt" sz="half" idx="10"/>
          </p:nvPr>
        </p:nvSpPr>
        <p:spPr/>
        <p:txBody>
          <a:bodyPr/>
          <a:lstStyle/>
          <a:p>
            <a:fld id="{50F2F1EC-AB26-4347-B6C6-0493F9095FCF}" type="datetimeFigureOut">
              <a:rPr lang="en-IN" smtClean="0"/>
              <a:t>12-12-2025</a:t>
            </a:fld>
            <a:endParaRPr lang="en-IN"/>
          </a:p>
        </p:txBody>
      </p:sp>
      <p:sp>
        <p:nvSpPr>
          <p:cNvPr id="6" name="Footer Placeholder 5">
            <a:extLst>
              <a:ext uri="{FF2B5EF4-FFF2-40B4-BE49-F238E27FC236}">
                <a16:creationId xmlns:a16="http://schemas.microsoft.com/office/drawing/2014/main" id="{D891F81D-4B9C-6C96-4467-22171915A2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92FE75-7BE9-0500-FEAE-8B8EDCA56608}"/>
              </a:ext>
            </a:extLst>
          </p:cNvPr>
          <p:cNvSpPr>
            <a:spLocks noGrp="1"/>
          </p:cNvSpPr>
          <p:nvPr>
            <p:ph type="sldNum" sz="quarter" idx="12"/>
          </p:nvPr>
        </p:nvSpPr>
        <p:spPr/>
        <p:txBody>
          <a:bodyPr/>
          <a:lstStyle/>
          <a:p>
            <a:fld id="{FBC72C5D-EA01-4D80-A3B5-8064CB2CA7CE}" type="slidenum">
              <a:rPr lang="en-IN" smtClean="0"/>
              <a:t>‹#›</a:t>
            </a:fld>
            <a:endParaRPr lang="en-IN"/>
          </a:p>
        </p:txBody>
      </p:sp>
    </p:spTree>
    <p:extLst>
      <p:ext uri="{BB962C8B-B14F-4D97-AF65-F5344CB8AC3E}">
        <p14:creationId xmlns:p14="http://schemas.microsoft.com/office/powerpoint/2010/main" val="3517028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A84F-C857-6A51-8D43-A2B32DC4341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BF7DC14-0120-E10E-CCC7-B0C0EEEE99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259DB1-5E0D-6C86-F724-19967B12CB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0F15C43-BAE5-F5FA-C7E9-40DCDB56B0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D4471F-8C6D-DE5C-0194-328F0500B5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390F8F-80FF-9702-4728-E53EBA6627EE}"/>
              </a:ext>
            </a:extLst>
          </p:cNvPr>
          <p:cNvSpPr>
            <a:spLocks noGrp="1"/>
          </p:cNvSpPr>
          <p:nvPr>
            <p:ph type="dt" sz="half" idx="10"/>
          </p:nvPr>
        </p:nvSpPr>
        <p:spPr/>
        <p:txBody>
          <a:bodyPr/>
          <a:lstStyle/>
          <a:p>
            <a:fld id="{50F2F1EC-AB26-4347-B6C6-0493F9095FCF}" type="datetimeFigureOut">
              <a:rPr lang="en-IN" smtClean="0"/>
              <a:t>12-12-2025</a:t>
            </a:fld>
            <a:endParaRPr lang="en-IN"/>
          </a:p>
        </p:txBody>
      </p:sp>
      <p:sp>
        <p:nvSpPr>
          <p:cNvPr id="8" name="Footer Placeholder 7">
            <a:extLst>
              <a:ext uri="{FF2B5EF4-FFF2-40B4-BE49-F238E27FC236}">
                <a16:creationId xmlns:a16="http://schemas.microsoft.com/office/drawing/2014/main" id="{8B745C24-8AB7-2644-8744-0CCCAD240C7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C058A0-93C3-9B4E-5441-8DCE7DEB448B}"/>
              </a:ext>
            </a:extLst>
          </p:cNvPr>
          <p:cNvSpPr>
            <a:spLocks noGrp="1"/>
          </p:cNvSpPr>
          <p:nvPr>
            <p:ph type="sldNum" sz="quarter" idx="12"/>
          </p:nvPr>
        </p:nvSpPr>
        <p:spPr/>
        <p:txBody>
          <a:bodyPr/>
          <a:lstStyle/>
          <a:p>
            <a:fld id="{FBC72C5D-EA01-4D80-A3B5-8064CB2CA7CE}" type="slidenum">
              <a:rPr lang="en-IN" smtClean="0"/>
              <a:t>‹#›</a:t>
            </a:fld>
            <a:endParaRPr lang="en-IN"/>
          </a:p>
        </p:txBody>
      </p:sp>
    </p:spTree>
    <p:extLst>
      <p:ext uri="{BB962C8B-B14F-4D97-AF65-F5344CB8AC3E}">
        <p14:creationId xmlns:p14="http://schemas.microsoft.com/office/powerpoint/2010/main" val="49845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BAB49-E8E8-B89F-1979-CD79591570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8CB0EB9-AA40-21D6-997D-3108151CDD00}"/>
              </a:ext>
            </a:extLst>
          </p:cNvPr>
          <p:cNvSpPr>
            <a:spLocks noGrp="1"/>
          </p:cNvSpPr>
          <p:nvPr>
            <p:ph type="dt" sz="half" idx="10"/>
          </p:nvPr>
        </p:nvSpPr>
        <p:spPr/>
        <p:txBody>
          <a:bodyPr/>
          <a:lstStyle/>
          <a:p>
            <a:fld id="{50F2F1EC-AB26-4347-B6C6-0493F9095FCF}" type="datetimeFigureOut">
              <a:rPr lang="en-IN" smtClean="0"/>
              <a:t>12-12-2025</a:t>
            </a:fld>
            <a:endParaRPr lang="en-IN"/>
          </a:p>
        </p:txBody>
      </p:sp>
      <p:sp>
        <p:nvSpPr>
          <p:cNvPr id="4" name="Footer Placeholder 3">
            <a:extLst>
              <a:ext uri="{FF2B5EF4-FFF2-40B4-BE49-F238E27FC236}">
                <a16:creationId xmlns:a16="http://schemas.microsoft.com/office/drawing/2014/main" id="{51A4D2E0-AC8B-E704-AC22-05BB9A2477E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DBFAC75-DEDB-09E6-4F27-263E47D7FC50}"/>
              </a:ext>
            </a:extLst>
          </p:cNvPr>
          <p:cNvSpPr>
            <a:spLocks noGrp="1"/>
          </p:cNvSpPr>
          <p:nvPr>
            <p:ph type="sldNum" sz="quarter" idx="12"/>
          </p:nvPr>
        </p:nvSpPr>
        <p:spPr/>
        <p:txBody>
          <a:bodyPr/>
          <a:lstStyle/>
          <a:p>
            <a:fld id="{FBC72C5D-EA01-4D80-A3B5-8064CB2CA7CE}" type="slidenum">
              <a:rPr lang="en-IN" smtClean="0"/>
              <a:t>‹#›</a:t>
            </a:fld>
            <a:endParaRPr lang="en-IN"/>
          </a:p>
        </p:txBody>
      </p:sp>
    </p:spTree>
    <p:extLst>
      <p:ext uri="{BB962C8B-B14F-4D97-AF65-F5344CB8AC3E}">
        <p14:creationId xmlns:p14="http://schemas.microsoft.com/office/powerpoint/2010/main" val="3065928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48C1FC-823C-4EA4-AED1-D4CC5C16CA73}"/>
              </a:ext>
            </a:extLst>
          </p:cNvPr>
          <p:cNvSpPr>
            <a:spLocks noGrp="1"/>
          </p:cNvSpPr>
          <p:nvPr>
            <p:ph type="dt" sz="half" idx="10"/>
          </p:nvPr>
        </p:nvSpPr>
        <p:spPr/>
        <p:txBody>
          <a:bodyPr/>
          <a:lstStyle/>
          <a:p>
            <a:fld id="{50F2F1EC-AB26-4347-B6C6-0493F9095FCF}" type="datetimeFigureOut">
              <a:rPr lang="en-IN" smtClean="0"/>
              <a:t>12-12-2025</a:t>
            </a:fld>
            <a:endParaRPr lang="en-IN"/>
          </a:p>
        </p:txBody>
      </p:sp>
      <p:sp>
        <p:nvSpPr>
          <p:cNvPr id="3" name="Footer Placeholder 2">
            <a:extLst>
              <a:ext uri="{FF2B5EF4-FFF2-40B4-BE49-F238E27FC236}">
                <a16:creationId xmlns:a16="http://schemas.microsoft.com/office/drawing/2014/main" id="{67062B83-2246-C7CD-A74C-4D749CFD96B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AB2F7FC-D8E4-2750-0193-1BAA9CD29AA1}"/>
              </a:ext>
            </a:extLst>
          </p:cNvPr>
          <p:cNvSpPr>
            <a:spLocks noGrp="1"/>
          </p:cNvSpPr>
          <p:nvPr>
            <p:ph type="sldNum" sz="quarter" idx="12"/>
          </p:nvPr>
        </p:nvSpPr>
        <p:spPr/>
        <p:txBody>
          <a:bodyPr/>
          <a:lstStyle/>
          <a:p>
            <a:fld id="{FBC72C5D-EA01-4D80-A3B5-8064CB2CA7CE}" type="slidenum">
              <a:rPr lang="en-IN" smtClean="0"/>
              <a:t>‹#›</a:t>
            </a:fld>
            <a:endParaRPr lang="en-IN"/>
          </a:p>
        </p:txBody>
      </p:sp>
    </p:spTree>
    <p:extLst>
      <p:ext uri="{BB962C8B-B14F-4D97-AF65-F5344CB8AC3E}">
        <p14:creationId xmlns:p14="http://schemas.microsoft.com/office/powerpoint/2010/main" val="464767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AEB18-AE52-3F5D-F3C5-DF8AE773D1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CE4349A-5C08-E896-E449-192D0E57F3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06B5F0-6E6C-C236-0CC8-2D8D86EA56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3FAABC-D3AC-EFF1-6C2E-1530BFC51915}"/>
              </a:ext>
            </a:extLst>
          </p:cNvPr>
          <p:cNvSpPr>
            <a:spLocks noGrp="1"/>
          </p:cNvSpPr>
          <p:nvPr>
            <p:ph type="dt" sz="half" idx="10"/>
          </p:nvPr>
        </p:nvSpPr>
        <p:spPr/>
        <p:txBody>
          <a:bodyPr/>
          <a:lstStyle/>
          <a:p>
            <a:fld id="{50F2F1EC-AB26-4347-B6C6-0493F9095FCF}" type="datetimeFigureOut">
              <a:rPr lang="en-IN" smtClean="0"/>
              <a:t>12-12-2025</a:t>
            </a:fld>
            <a:endParaRPr lang="en-IN"/>
          </a:p>
        </p:txBody>
      </p:sp>
      <p:sp>
        <p:nvSpPr>
          <p:cNvPr id="6" name="Footer Placeholder 5">
            <a:extLst>
              <a:ext uri="{FF2B5EF4-FFF2-40B4-BE49-F238E27FC236}">
                <a16:creationId xmlns:a16="http://schemas.microsoft.com/office/drawing/2014/main" id="{955F9034-93D7-A836-957E-BEBE7A93BD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DDC841-C8E8-6E8F-0E43-3BFCB6E7D7CF}"/>
              </a:ext>
            </a:extLst>
          </p:cNvPr>
          <p:cNvSpPr>
            <a:spLocks noGrp="1"/>
          </p:cNvSpPr>
          <p:nvPr>
            <p:ph type="sldNum" sz="quarter" idx="12"/>
          </p:nvPr>
        </p:nvSpPr>
        <p:spPr/>
        <p:txBody>
          <a:bodyPr/>
          <a:lstStyle/>
          <a:p>
            <a:fld id="{FBC72C5D-EA01-4D80-A3B5-8064CB2CA7CE}" type="slidenum">
              <a:rPr lang="en-IN" smtClean="0"/>
              <a:t>‹#›</a:t>
            </a:fld>
            <a:endParaRPr lang="en-IN"/>
          </a:p>
        </p:txBody>
      </p:sp>
    </p:spTree>
    <p:extLst>
      <p:ext uri="{BB962C8B-B14F-4D97-AF65-F5344CB8AC3E}">
        <p14:creationId xmlns:p14="http://schemas.microsoft.com/office/powerpoint/2010/main" val="3683874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86E5C-4298-BD46-A2B1-0FBAE9625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0086B84-839E-27B1-8C0A-6706D49673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7B7A237-CDAE-4CBF-45F5-125FADBCD6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F8140E-AC50-E78D-F419-5C987C8BB093}"/>
              </a:ext>
            </a:extLst>
          </p:cNvPr>
          <p:cNvSpPr>
            <a:spLocks noGrp="1"/>
          </p:cNvSpPr>
          <p:nvPr>
            <p:ph type="dt" sz="half" idx="10"/>
          </p:nvPr>
        </p:nvSpPr>
        <p:spPr/>
        <p:txBody>
          <a:bodyPr/>
          <a:lstStyle/>
          <a:p>
            <a:fld id="{50F2F1EC-AB26-4347-B6C6-0493F9095FCF}" type="datetimeFigureOut">
              <a:rPr lang="en-IN" smtClean="0"/>
              <a:t>12-12-2025</a:t>
            </a:fld>
            <a:endParaRPr lang="en-IN"/>
          </a:p>
        </p:txBody>
      </p:sp>
      <p:sp>
        <p:nvSpPr>
          <p:cNvPr id="6" name="Footer Placeholder 5">
            <a:extLst>
              <a:ext uri="{FF2B5EF4-FFF2-40B4-BE49-F238E27FC236}">
                <a16:creationId xmlns:a16="http://schemas.microsoft.com/office/drawing/2014/main" id="{7C1B13CD-E48B-3BC5-5CE1-6D31934941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BC8F0A-2FC4-59C6-5564-D72B87A7CDFE}"/>
              </a:ext>
            </a:extLst>
          </p:cNvPr>
          <p:cNvSpPr>
            <a:spLocks noGrp="1"/>
          </p:cNvSpPr>
          <p:nvPr>
            <p:ph type="sldNum" sz="quarter" idx="12"/>
          </p:nvPr>
        </p:nvSpPr>
        <p:spPr/>
        <p:txBody>
          <a:bodyPr/>
          <a:lstStyle/>
          <a:p>
            <a:fld id="{FBC72C5D-EA01-4D80-A3B5-8064CB2CA7CE}" type="slidenum">
              <a:rPr lang="en-IN" smtClean="0"/>
              <a:t>‹#›</a:t>
            </a:fld>
            <a:endParaRPr lang="en-IN"/>
          </a:p>
        </p:txBody>
      </p:sp>
    </p:spTree>
    <p:extLst>
      <p:ext uri="{BB962C8B-B14F-4D97-AF65-F5344CB8AC3E}">
        <p14:creationId xmlns:p14="http://schemas.microsoft.com/office/powerpoint/2010/main" val="4241701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7E2DD-EA67-ED47-710F-54699784D18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837937-D51A-7D64-1284-E05B889B1E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6217BD-7634-7A15-4912-081A75BDE0A5}"/>
              </a:ext>
            </a:extLst>
          </p:cNvPr>
          <p:cNvSpPr>
            <a:spLocks noGrp="1"/>
          </p:cNvSpPr>
          <p:nvPr>
            <p:ph type="dt" sz="half" idx="10"/>
          </p:nvPr>
        </p:nvSpPr>
        <p:spPr/>
        <p:txBody>
          <a:bodyPr/>
          <a:lstStyle/>
          <a:p>
            <a:fld id="{50F2F1EC-AB26-4347-B6C6-0493F9095FCF}" type="datetimeFigureOut">
              <a:rPr lang="en-IN" smtClean="0"/>
              <a:t>12-12-2025</a:t>
            </a:fld>
            <a:endParaRPr lang="en-IN"/>
          </a:p>
        </p:txBody>
      </p:sp>
      <p:sp>
        <p:nvSpPr>
          <p:cNvPr id="5" name="Footer Placeholder 4">
            <a:extLst>
              <a:ext uri="{FF2B5EF4-FFF2-40B4-BE49-F238E27FC236}">
                <a16:creationId xmlns:a16="http://schemas.microsoft.com/office/drawing/2014/main" id="{D391E2D9-190C-C7EC-0FA4-F37076CA1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C1D1E9-62FF-6E32-382D-DD4E6C344F8B}"/>
              </a:ext>
            </a:extLst>
          </p:cNvPr>
          <p:cNvSpPr>
            <a:spLocks noGrp="1"/>
          </p:cNvSpPr>
          <p:nvPr>
            <p:ph type="sldNum" sz="quarter" idx="12"/>
          </p:nvPr>
        </p:nvSpPr>
        <p:spPr/>
        <p:txBody>
          <a:bodyPr/>
          <a:lstStyle/>
          <a:p>
            <a:fld id="{FBC72C5D-EA01-4D80-A3B5-8064CB2CA7CE}" type="slidenum">
              <a:rPr lang="en-IN" smtClean="0"/>
              <a:t>‹#›</a:t>
            </a:fld>
            <a:endParaRPr lang="en-IN"/>
          </a:p>
        </p:txBody>
      </p:sp>
    </p:spTree>
    <p:extLst>
      <p:ext uri="{BB962C8B-B14F-4D97-AF65-F5344CB8AC3E}">
        <p14:creationId xmlns:p14="http://schemas.microsoft.com/office/powerpoint/2010/main" val="356172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4EC246-8495-DD61-87BE-527F4077EB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1556AB-B3C6-F421-36E0-33EE715760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CA4A7F-37C0-8123-CEF2-895D2DF7A1E8}"/>
              </a:ext>
            </a:extLst>
          </p:cNvPr>
          <p:cNvSpPr>
            <a:spLocks noGrp="1"/>
          </p:cNvSpPr>
          <p:nvPr>
            <p:ph type="dt" sz="half" idx="10"/>
          </p:nvPr>
        </p:nvSpPr>
        <p:spPr/>
        <p:txBody>
          <a:bodyPr/>
          <a:lstStyle/>
          <a:p>
            <a:fld id="{50F2F1EC-AB26-4347-B6C6-0493F9095FCF}" type="datetimeFigureOut">
              <a:rPr lang="en-IN" smtClean="0"/>
              <a:t>12-12-2025</a:t>
            </a:fld>
            <a:endParaRPr lang="en-IN"/>
          </a:p>
        </p:txBody>
      </p:sp>
      <p:sp>
        <p:nvSpPr>
          <p:cNvPr id="5" name="Footer Placeholder 4">
            <a:extLst>
              <a:ext uri="{FF2B5EF4-FFF2-40B4-BE49-F238E27FC236}">
                <a16:creationId xmlns:a16="http://schemas.microsoft.com/office/drawing/2014/main" id="{6F99474E-ED81-83CD-14DE-873A91F2EB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E9C636-753D-1227-3520-FE4E4D9FA6E4}"/>
              </a:ext>
            </a:extLst>
          </p:cNvPr>
          <p:cNvSpPr>
            <a:spLocks noGrp="1"/>
          </p:cNvSpPr>
          <p:nvPr>
            <p:ph type="sldNum" sz="quarter" idx="12"/>
          </p:nvPr>
        </p:nvSpPr>
        <p:spPr/>
        <p:txBody>
          <a:bodyPr/>
          <a:lstStyle/>
          <a:p>
            <a:fld id="{FBC72C5D-EA01-4D80-A3B5-8064CB2CA7CE}" type="slidenum">
              <a:rPr lang="en-IN" smtClean="0"/>
              <a:t>‹#›</a:t>
            </a:fld>
            <a:endParaRPr lang="en-IN"/>
          </a:p>
        </p:txBody>
      </p:sp>
    </p:spTree>
    <p:extLst>
      <p:ext uri="{BB962C8B-B14F-4D97-AF65-F5344CB8AC3E}">
        <p14:creationId xmlns:p14="http://schemas.microsoft.com/office/powerpoint/2010/main" val="1438816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99CFB4-9511-5E85-8C95-C7D7290661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8E623D-8B01-3032-359E-3C20183915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CCB441-DAF9-8963-52F7-D071913E45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F2F1EC-AB26-4347-B6C6-0493F9095FCF}" type="datetimeFigureOut">
              <a:rPr lang="en-IN" smtClean="0"/>
              <a:t>12-12-2025</a:t>
            </a:fld>
            <a:endParaRPr lang="en-IN"/>
          </a:p>
        </p:txBody>
      </p:sp>
      <p:sp>
        <p:nvSpPr>
          <p:cNvPr id="5" name="Footer Placeholder 4">
            <a:extLst>
              <a:ext uri="{FF2B5EF4-FFF2-40B4-BE49-F238E27FC236}">
                <a16:creationId xmlns:a16="http://schemas.microsoft.com/office/drawing/2014/main" id="{5AC2C0F6-32F8-7BC0-5332-27C7BF058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877F17B-F1FF-151D-1F54-DE26ACCD4F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C72C5D-EA01-4D80-A3B5-8064CB2CA7CE}" type="slidenum">
              <a:rPr lang="en-IN" smtClean="0"/>
              <a:t>‹#›</a:t>
            </a:fld>
            <a:endParaRPr lang="en-IN"/>
          </a:p>
        </p:txBody>
      </p:sp>
    </p:spTree>
    <p:extLst>
      <p:ext uri="{BB962C8B-B14F-4D97-AF65-F5344CB8AC3E}">
        <p14:creationId xmlns:p14="http://schemas.microsoft.com/office/powerpoint/2010/main" val="824018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7B42C-BBC8-DC6C-36DB-B19D8857125B}"/>
              </a:ext>
            </a:extLst>
          </p:cNvPr>
          <p:cNvSpPr>
            <a:spLocks noGrp="1"/>
          </p:cNvSpPr>
          <p:nvPr>
            <p:ph type="title"/>
          </p:nvPr>
        </p:nvSpPr>
        <p:spPr>
          <a:xfrm>
            <a:off x="0" y="0"/>
            <a:ext cx="10567686" cy="879676"/>
          </a:xfrm>
        </p:spPr>
        <p:txBody>
          <a:bodyPr/>
          <a:lstStyle/>
          <a:p>
            <a:r>
              <a:rPr lang="en-IN" b="1" dirty="0">
                <a:solidFill>
                  <a:schemeClr val="accent1">
                    <a:lumMod val="75000"/>
                  </a:schemeClr>
                </a:solidFill>
                <a:effectLst>
                  <a:outerShdw blurRad="38100" dist="38100" dir="2700000" algn="tl">
                    <a:srgbClr val="000000">
                      <a:alpha val="43137"/>
                    </a:srgbClr>
                  </a:outerShdw>
                </a:effectLst>
              </a:rPr>
              <a:t>Exploratory Data Analysis Insights</a:t>
            </a:r>
          </a:p>
        </p:txBody>
      </p:sp>
      <p:pic>
        <p:nvPicPr>
          <p:cNvPr id="5" name="Content Placeholder 4">
            <a:extLst>
              <a:ext uri="{FF2B5EF4-FFF2-40B4-BE49-F238E27FC236}">
                <a16:creationId xmlns:a16="http://schemas.microsoft.com/office/drawing/2014/main" id="{FEE7550D-3866-DAF9-BC95-2BF17C80AA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4953" y="1481560"/>
            <a:ext cx="10567686" cy="4849792"/>
          </a:xfrm>
        </p:spPr>
      </p:pic>
      <p:sp>
        <p:nvSpPr>
          <p:cNvPr id="6" name="Title 1">
            <a:extLst>
              <a:ext uri="{FF2B5EF4-FFF2-40B4-BE49-F238E27FC236}">
                <a16:creationId xmlns:a16="http://schemas.microsoft.com/office/drawing/2014/main" id="{F1C06EED-B790-1A37-F2D2-246553F8AFCF}"/>
              </a:ext>
            </a:extLst>
          </p:cNvPr>
          <p:cNvSpPr txBox="1">
            <a:spLocks/>
          </p:cNvSpPr>
          <p:nvPr/>
        </p:nvSpPr>
        <p:spPr>
          <a:xfrm>
            <a:off x="0" y="879676"/>
            <a:ext cx="5335929" cy="405114"/>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rgbClr val="FF0000"/>
                </a:solidFill>
              </a:rPr>
              <a:t>Summary Statistics</a:t>
            </a:r>
          </a:p>
        </p:txBody>
      </p:sp>
    </p:spTree>
    <p:extLst>
      <p:ext uri="{BB962C8B-B14F-4D97-AF65-F5344CB8AC3E}">
        <p14:creationId xmlns:p14="http://schemas.microsoft.com/office/powerpoint/2010/main" val="4116275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8F68-DA20-A91A-0CC6-6B3AE46C6928}"/>
              </a:ext>
            </a:extLst>
          </p:cNvPr>
          <p:cNvSpPr>
            <a:spLocks noGrp="1"/>
          </p:cNvSpPr>
          <p:nvPr>
            <p:ph type="title"/>
          </p:nvPr>
        </p:nvSpPr>
        <p:spPr>
          <a:xfrm>
            <a:off x="0" y="5073444"/>
            <a:ext cx="12192000" cy="1877961"/>
          </a:xfrm>
        </p:spPr>
        <p:txBody>
          <a:bodyPr>
            <a:noAutofit/>
          </a:bodyPr>
          <a:lstStyle/>
          <a:p>
            <a:r>
              <a:rPr lang="en-US" sz="2000" b="1" dirty="0"/>
              <a:t>Vendor and Brand Diversity</a:t>
            </a:r>
            <a:r>
              <a:rPr lang="en-US" sz="2000" dirty="0"/>
              <a:t>: The wide range and standard deviation in </a:t>
            </a:r>
            <a:r>
              <a:rPr lang="en-US" sz="2000" dirty="0" err="1"/>
              <a:t>VendorNumber</a:t>
            </a:r>
            <a:r>
              <a:rPr lang="en-US" sz="2000" dirty="0"/>
              <a:t> and Brand suggest a diverse set of vendors and a large number of unique brands, which is expected in a broad inventory dataset.</a:t>
            </a:r>
            <a:br>
              <a:rPr lang="en-US" sz="2000" dirty="0"/>
            </a:br>
            <a:br>
              <a:rPr lang="en-US" sz="2000" dirty="0"/>
            </a:br>
            <a:r>
              <a:rPr lang="en-US" sz="2000" b="1" dirty="0"/>
              <a:t>Pricing Trends:</a:t>
            </a:r>
            <a:r>
              <a:rPr lang="en-US" sz="2000" dirty="0"/>
              <a:t> Price (selling price) and </a:t>
            </a:r>
            <a:r>
              <a:rPr lang="en-US" sz="2000" dirty="0" err="1"/>
              <a:t>PurchasePrice</a:t>
            </a:r>
            <a:r>
              <a:rPr lang="en-US" sz="2000" dirty="0"/>
              <a:t> show different ranges and averages, suggesting variations in pricing strategies and cost structures across products.</a:t>
            </a:r>
            <a:br>
              <a:rPr lang="en-US" sz="2000" dirty="0"/>
            </a:br>
            <a:endParaRPr lang="en-IN" sz="2000" dirty="0"/>
          </a:p>
        </p:txBody>
      </p:sp>
      <p:pic>
        <p:nvPicPr>
          <p:cNvPr id="5" name="Content Placeholder 4">
            <a:extLst>
              <a:ext uri="{FF2B5EF4-FFF2-40B4-BE49-F238E27FC236}">
                <a16:creationId xmlns:a16="http://schemas.microsoft.com/office/drawing/2014/main" id="{7CEC3289-F373-A24D-B2E0-F73EBBAB1B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049245" cy="4946074"/>
          </a:xfrm>
        </p:spPr>
      </p:pic>
    </p:spTree>
    <p:extLst>
      <p:ext uri="{BB962C8B-B14F-4D97-AF65-F5344CB8AC3E}">
        <p14:creationId xmlns:p14="http://schemas.microsoft.com/office/powerpoint/2010/main" val="1171744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9CC74-35C3-B75B-E43F-429D0C7D6F7A}"/>
              </a:ext>
            </a:extLst>
          </p:cNvPr>
          <p:cNvSpPr>
            <a:spLocks noGrp="1"/>
          </p:cNvSpPr>
          <p:nvPr>
            <p:ph type="title"/>
          </p:nvPr>
        </p:nvSpPr>
        <p:spPr>
          <a:xfrm>
            <a:off x="0" y="-176982"/>
            <a:ext cx="12260826" cy="4198375"/>
          </a:xfrm>
        </p:spPr>
        <p:txBody>
          <a:bodyPr>
            <a:normAutofit fontScale="90000"/>
          </a:bodyPr>
          <a:lstStyle/>
          <a:p>
            <a:r>
              <a:rPr lang="en-US" sz="1600" b="1" dirty="0"/>
              <a:t>Freight Costs and Outliers:</a:t>
            </a:r>
            <a:r>
              <a:rPr lang="en-US" sz="1600" dirty="0"/>
              <a:t> </a:t>
            </a:r>
            <a:r>
              <a:rPr lang="en-US" sz="1600" dirty="0" err="1"/>
              <a:t>TotalFreightCost</a:t>
            </a:r>
            <a:r>
              <a:rPr lang="en-US" sz="1600" dirty="0"/>
              <a:t> also exhibits significant variability and a high standard deviation, which implies that certain vendors or transactions incur much higher freight costs, potentially impacting profitability. These higher costs could be considered outliers in the distribution of freight costs.</a:t>
            </a:r>
            <a:br>
              <a:rPr lang="en-US" sz="1600" dirty="0"/>
            </a:br>
            <a:br>
              <a:rPr lang="en-US" sz="1600" dirty="0"/>
            </a:br>
            <a:r>
              <a:rPr lang="en-US" sz="1600" b="1" dirty="0" err="1"/>
              <a:t>GrossProfit</a:t>
            </a:r>
            <a:r>
              <a:rPr lang="en-US" sz="1600" b="1" dirty="0"/>
              <a:t> and </a:t>
            </a:r>
            <a:r>
              <a:rPr lang="en-US" sz="1600" b="1" dirty="0" err="1"/>
              <a:t>ProfitMargin</a:t>
            </a:r>
            <a:r>
              <a:rPr lang="en-US" sz="1600" b="1" dirty="0"/>
              <a:t> Observation:</a:t>
            </a:r>
            <a:r>
              <a:rPr lang="en-US" sz="1600" dirty="0"/>
              <a:t> A critical insight is that both </a:t>
            </a:r>
            <a:r>
              <a:rPr lang="en-US" sz="1600" dirty="0" err="1"/>
              <a:t>GrossProfit</a:t>
            </a:r>
            <a:r>
              <a:rPr lang="en-US" sz="1600" dirty="0"/>
              <a:t> and </a:t>
            </a:r>
            <a:r>
              <a:rPr lang="en-US" sz="1600" dirty="0" err="1"/>
              <a:t>ProfitMargin</a:t>
            </a:r>
            <a:r>
              <a:rPr lang="en-US" sz="1600" dirty="0"/>
              <a:t> show a mean, median (50%), and 75th percentile of 0.0. This is a direct consequence of the non-negative profit rule we applied. It implies that for a significant portion of the entries, the calculated profit was initially negative or zero, and was subsequently floored to zero. This highlights areas where products or vendors might be unprofitable, requiring further investigation into their sales, purchase, and cost structures to understand why they are not generating positive gross profit.</a:t>
            </a:r>
            <a:br>
              <a:rPr lang="en-US" sz="1600" dirty="0"/>
            </a:br>
            <a:br>
              <a:rPr lang="en-US" sz="1600" dirty="0"/>
            </a:br>
            <a:r>
              <a:rPr lang="en-US" sz="1600" b="1" dirty="0"/>
              <a:t>Ratios (</a:t>
            </a:r>
            <a:r>
              <a:rPr lang="en-US" sz="1600" b="1" dirty="0" err="1"/>
              <a:t>StockTurnover</a:t>
            </a:r>
            <a:r>
              <a:rPr lang="en-US" sz="1600" b="1" dirty="0"/>
              <a:t>, </a:t>
            </a:r>
            <a:r>
              <a:rPr lang="en-US" sz="1600" b="1" dirty="0" err="1"/>
              <a:t>SalestoPurchaseRatio</a:t>
            </a:r>
            <a:r>
              <a:rPr lang="en-US" sz="1600" b="1" dirty="0"/>
              <a:t>): bold text</a:t>
            </a:r>
            <a:r>
              <a:rPr lang="en-US" sz="1600" dirty="0"/>
              <a:t> Both </a:t>
            </a:r>
            <a:r>
              <a:rPr lang="en-US" sz="1600" dirty="0" err="1"/>
              <a:t>StockTurnover</a:t>
            </a:r>
            <a:r>
              <a:rPr lang="en-US" sz="1600" dirty="0"/>
              <a:t> and </a:t>
            </a:r>
            <a:r>
              <a:rPr lang="en-US" sz="1600" dirty="0" err="1"/>
              <a:t>SalestoPurchaseRatio</a:t>
            </a:r>
            <a:r>
              <a:rPr lang="en-US" sz="1600" dirty="0"/>
              <a:t> have very small mean values but relatively high standard deviations, with some extremely high maximum values. This again points to the existence of outliers where a few products or vendors might be performing exceptionally well in terms of inventory movement and sales efficiency, while the majority exhibit lower performance.</a:t>
            </a:r>
            <a:br>
              <a:rPr lang="en-US" sz="1600" dirty="0"/>
            </a:br>
            <a:br>
              <a:rPr lang="en-US" sz="1600" dirty="0"/>
            </a:br>
            <a:r>
              <a:rPr lang="en-US" sz="1600" b="1" dirty="0"/>
              <a:t>Significant Variability and Outliers in Sales and Purchases:</a:t>
            </a:r>
            <a:r>
              <a:rPr lang="en-US" sz="1600" dirty="0"/>
              <a:t> Metrics like </a:t>
            </a:r>
            <a:r>
              <a:rPr lang="en-US" sz="1600" dirty="0" err="1"/>
              <a:t>TotalSalesQuantity</a:t>
            </a:r>
            <a:r>
              <a:rPr lang="en-US" sz="1600" dirty="0"/>
              <a:t>, </a:t>
            </a:r>
            <a:r>
              <a:rPr lang="en-US" sz="1600" dirty="0" err="1"/>
              <a:t>TotalSalesDollars</a:t>
            </a:r>
            <a:r>
              <a:rPr lang="en-US" sz="1600" dirty="0"/>
              <a:t>, </a:t>
            </a:r>
            <a:r>
              <a:rPr lang="en-US" sz="1600" dirty="0" err="1"/>
              <a:t>TotalPurchaseQuantity</a:t>
            </a:r>
            <a:r>
              <a:rPr lang="en-US" sz="1600" dirty="0"/>
              <a:t>, and </a:t>
            </a:r>
            <a:r>
              <a:rPr lang="en-US" sz="1600" dirty="0" err="1"/>
              <a:t>TotalPurchaseDollars</a:t>
            </a:r>
            <a:r>
              <a:rPr lang="en-US" sz="1600" dirty="0"/>
              <a:t> show very large differences between their minimum, median (50%), and maximum values. Crucially, their high standard deviations relative to their means strongly indicate the presence of outliers. This means a few vendors/brands likely dominate sales and purchase volumes, while many others have smaller contributions. The max values are considerably higher than the mean, explicitly pointing to these potential outliers or highly successful products/vendors that skew the distribution.</a:t>
            </a:r>
            <a:br>
              <a:rPr lang="en-US" sz="1600" dirty="0"/>
            </a:br>
            <a:endParaRPr lang="en-IN" sz="1600" dirty="0"/>
          </a:p>
        </p:txBody>
      </p:sp>
      <p:sp>
        <p:nvSpPr>
          <p:cNvPr id="3" name="Title 1">
            <a:extLst>
              <a:ext uri="{FF2B5EF4-FFF2-40B4-BE49-F238E27FC236}">
                <a16:creationId xmlns:a16="http://schemas.microsoft.com/office/drawing/2014/main" id="{18EA17F3-3628-8827-E803-D93B93BA02E6}"/>
              </a:ext>
            </a:extLst>
          </p:cNvPr>
          <p:cNvSpPr txBox="1">
            <a:spLocks/>
          </p:cNvSpPr>
          <p:nvPr/>
        </p:nvSpPr>
        <p:spPr>
          <a:xfrm>
            <a:off x="0" y="3429000"/>
            <a:ext cx="9684774" cy="6784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2000" dirty="0"/>
            </a:br>
            <a:endParaRPr lang="en-IN" sz="2000" dirty="0"/>
          </a:p>
        </p:txBody>
      </p:sp>
      <p:sp>
        <p:nvSpPr>
          <p:cNvPr id="4" name="Title 1">
            <a:extLst>
              <a:ext uri="{FF2B5EF4-FFF2-40B4-BE49-F238E27FC236}">
                <a16:creationId xmlns:a16="http://schemas.microsoft.com/office/drawing/2014/main" id="{B3027B49-D881-DD36-D2A1-8BDF311DF38B}"/>
              </a:ext>
            </a:extLst>
          </p:cNvPr>
          <p:cNvSpPr txBox="1">
            <a:spLocks/>
          </p:cNvSpPr>
          <p:nvPr/>
        </p:nvSpPr>
        <p:spPr>
          <a:xfrm>
            <a:off x="0" y="5073444"/>
            <a:ext cx="12192000" cy="18779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2000" dirty="0"/>
            </a:br>
            <a:endParaRPr lang="en-IN" sz="2000" dirty="0"/>
          </a:p>
        </p:txBody>
      </p:sp>
      <p:sp>
        <p:nvSpPr>
          <p:cNvPr id="5" name="Title 1">
            <a:extLst>
              <a:ext uri="{FF2B5EF4-FFF2-40B4-BE49-F238E27FC236}">
                <a16:creationId xmlns:a16="http://schemas.microsoft.com/office/drawing/2014/main" id="{715AA5CE-F68E-5322-9610-3098BCCC2B6E}"/>
              </a:ext>
            </a:extLst>
          </p:cNvPr>
          <p:cNvSpPr txBox="1">
            <a:spLocks/>
          </p:cNvSpPr>
          <p:nvPr/>
        </p:nvSpPr>
        <p:spPr>
          <a:xfrm>
            <a:off x="0" y="3082412"/>
            <a:ext cx="12192000" cy="11651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accent6">
                    <a:lumMod val="50000"/>
                  </a:schemeClr>
                </a:solidFill>
                <a:effectLst>
                  <a:outerShdw blurRad="38100" dist="38100" dir="2700000" algn="tl">
                    <a:srgbClr val="000000">
                      <a:alpha val="43137"/>
                    </a:srgbClr>
                  </a:outerShdw>
                </a:effectLst>
              </a:rPr>
              <a:t>Filtering Data by Removing Inconsistencies</a:t>
            </a:r>
            <a:endParaRPr lang="en-IN" sz="3200" b="1" dirty="0">
              <a:solidFill>
                <a:schemeClr val="accent6">
                  <a:lumMod val="50000"/>
                </a:schemeClr>
              </a:solidFill>
              <a:effectLst>
                <a:outerShdw blurRad="38100" dist="38100" dir="2700000" algn="tl">
                  <a:srgbClr val="000000">
                    <a:alpha val="43137"/>
                  </a:srgbClr>
                </a:outerShdw>
              </a:effectLst>
            </a:endParaRPr>
          </a:p>
        </p:txBody>
      </p:sp>
      <p:sp>
        <p:nvSpPr>
          <p:cNvPr id="6" name="Title 1">
            <a:extLst>
              <a:ext uri="{FF2B5EF4-FFF2-40B4-BE49-F238E27FC236}">
                <a16:creationId xmlns:a16="http://schemas.microsoft.com/office/drawing/2014/main" id="{99F327F9-6940-8BCD-788F-6D6A2716687C}"/>
              </a:ext>
            </a:extLst>
          </p:cNvPr>
          <p:cNvSpPr txBox="1">
            <a:spLocks/>
          </p:cNvSpPr>
          <p:nvPr/>
        </p:nvSpPr>
        <p:spPr>
          <a:xfrm>
            <a:off x="34413" y="3962400"/>
            <a:ext cx="12260826" cy="24900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i="1" dirty="0"/>
              <a:t>To enhance the reliability of the insights, we removed inconsistent data points where:</a:t>
            </a:r>
          </a:p>
          <a:p>
            <a:endParaRPr lang="en-US" sz="2000" b="1" i="1" dirty="0"/>
          </a:p>
          <a:p>
            <a:r>
              <a:rPr lang="en-US" sz="2000" b="1" i="1" dirty="0"/>
              <a:t>Gross Profit ≤ 0 (to exclude transactions leading to losses).</a:t>
            </a:r>
          </a:p>
          <a:p>
            <a:endParaRPr lang="en-US" sz="2000" b="1" i="1" dirty="0"/>
          </a:p>
          <a:p>
            <a:r>
              <a:rPr lang="en-US" sz="2000" b="1" i="1" dirty="0"/>
              <a:t>Profit Margin ≤ 0 (to ensure analysis focuses on profitable transactions).</a:t>
            </a:r>
          </a:p>
          <a:p>
            <a:endParaRPr lang="en-US" sz="2000" b="1" i="1" dirty="0"/>
          </a:p>
          <a:p>
            <a:r>
              <a:rPr lang="en-US" sz="2000" b="1" i="1" dirty="0"/>
              <a:t>Total Sales Quantity = 0 (to eliminate inventory that was never sold)</a:t>
            </a:r>
            <a:endParaRPr lang="en-IN" sz="2000" b="1" i="1" dirty="0"/>
          </a:p>
        </p:txBody>
      </p:sp>
    </p:spTree>
    <p:extLst>
      <p:ext uri="{BB962C8B-B14F-4D97-AF65-F5344CB8AC3E}">
        <p14:creationId xmlns:p14="http://schemas.microsoft.com/office/powerpoint/2010/main" val="1462658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F0BC9-F216-6B7A-0925-E2203CC03BEB}"/>
              </a:ext>
            </a:extLst>
          </p:cNvPr>
          <p:cNvSpPr>
            <a:spLocks noGrp="1"/>
          </p:cNvSpPr>
          <p:nvPr>
            <p:ph type="title"/>
          </p:nvPr>
        </p:nvSpPr>
        <p:spPr>
          <a:xfrm>
            <a:off x="0" y="-301702"/>
            <a:ext cx="4392561" cy="1325563"/>
          </a:xfrm>
        </p:spPr>
        <p:txBody>
          <a:bodyPr/>
          <a:lstStyle/>
          <a:p>
            <a:r>
              <a:rPr lang="en-IN" b="1" dirty="0">
                <a:solidFill>
                  <a:srgbClr val="C00000"/>
                </a:solidFill>
              </a:rPr>
              <a:t>correlation Insights</a:t>
            </a:r>
            <a:endParaRPr lang="en-IN" dirty="0"/>
          </a:p>
        </p:txBody>
      </p:sp>
      <p:pic>
        <p:nvPicPr>
          <p:cNvPr id="5" name="Content Placeholder 4">
            <a:extLst>
              <a:ext uri="{FF2B5EF4-FFF2-40B4-BE49-F238E27FC236}">
                <a16:creationId xmlns:a16="http://schemas.microsoft.com/office/drawing/2014/main" id="{AA9817D0-5F23-38D0-5DF7-AAFA3C8887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8128" y="580104"/>
            <a:ext cx="7757652" cy="5165545"/>
          </a:xfrm>
        </p:spPr>
      </p:pic>
      <p:sp>
        <p:nvSpPr>
          <p:cNvPr id="6" name="Title 1">
            <a:extLst>
              <a:ext uri="{FF2B5EF4-FFF2-40B4-BE49-F238E27FC236}">
                <a16:creationId xmlns:a16="http://schemas.microsoft.com/office/drawing/2014/main" id="{1D7FC432-9587-A965-6860-18E0F568ADB9}"/>
              </a:ext>
            </a:extLst>
          </p:cNvPr>
          <p:cNvSpPr txBox="1">
            <a:spLocks/>
          </p:cNvSpPr>
          <p:nvPr/>
        </p:nvSpPr>
        <p:spPr>
          <a:xfrm>
            <a:off x="0" y="5745649"/>
            <a:ext cx="1265411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b="1" dirty="0"/>
              <a:t>1. Purchase Price vs. Sales &amp; Profit</a:t>
            </a:r>
          </a:p>
          <a:p>
            <a:r>
              <a:rPr lang="en-US" sz="1400" b="1" dirty="0"/>
              <a:t>Total Sales Dollars:</a:t>
            </a:r>
            <a:r>
              <a:rPr lang="en-US" sz="1400" dirty="0"/>
              <a:t> </a:t>
            </a:r>
            <a:r>
              <a:rPr lang="en-US" sz="1400" b="1" dirty="0"/>
              <a:t>0.10 (Very Weak).</a:t>
            </a:r>
            <a:r>
              <a:rPr lang="en-US" sz="1400" dirty="0"/>
              <a:t> Unit cost does not drive total revenue; volume matters more.</a:t>
            </a:r>
          </a:p>
          <a:p>
            <a:r>
              <a:rPr lang="en-US" sz="1400" b="1" dirty="0"/>
              <a:t>Gross Profit:</a:t>
            </a:r>
            <a:r>
              <a:rPr lang="en-US" sz="1400" dirty="0"/>
              <a:t> </a:t>
            </a:r>
            <a:r>
              <a:rPr lang="en-US" sz="1400" b="1" dirty="0"/>
              <a:t>Data Missing.</a:t>
            </a:r>
            <a:r>
              <a:rPr lang="en-US" sz="1400" dirty="0"/>
              <a:t> No correlation is visible in the chart for this metric.</a:t>
            </a:r>
          </a:p>
          <a:p>
            <a:r>
              <a:rPr lang="en-US" sz="1400" b="1" dirty="0"/>
              <a:t>2. Total Purchase Qty vs. Total Sales Qty</a:t>
            </a:r>
          </a:p>
          <a:p>
            <a:r>
              <a:rPr lang="en-US" sz="1400" b="1" dirty="0"/>
              <a:t>Correlation:</a:t>
            </a:r>
            <a:r>
              <a:rPr lang="en-US" sz="1400" dirty="0"/>
              <a:t> </a:t>
            </a:r>
            <a:r>
              <a:rPr lang="en-US" sz="1400" b="1" dirty="0"/>
              <a:t>0.63 (Strong).</a:t>
            </a:r>
            <a:r>
              <a:rPr lang="en-US" sz="1400" dirty="0"/>
              <a:t> * </a:t>
            </a:r>
            <a:r>
              <a:rPr lang="en-US" sz="1400" b="1" dirty="0"/>
              <a:t>Insight:</a:t>
            </a:r>
            <a:r>
              <a:rPr lang="en-US" sz="1400" dirty="0"/>
              <a:t> Inventory buying is well-aligned with demand. When you buy more, you sell more, indicating healthy stock movement.</a:t>
            </a:r>
          </a:p>
          <a:p>
            <a:endParaRPr lang="en-IN" sz="1400" b="1" i="1" dirty="0"/>
          </a:p>
        </p:txBody>
      </p:sp>
    </p:spTree>
    <p:extLst>
      <p:ext uri="{BB962C8B-B14F-4D97-AF65-F5344CB8AC3E}">
        <p14:creationId xmlns:p14="http://schemas.microsoft.com/office/powerpoint/2010/main" val="1085384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E7204-ED6C-848F-0E93-7267C1D994C1}"/>
              </a:ext>
            </a:extLst>
          </p:cNvPr>
          <p:cNvSpPr>
            <a:spLocks noGrp="1"/>
          </p:cNvSpPr>
          <p:nvPr>
            <p:ph type="title"/>
          </p:nvPr>
        </p:nvSpPr>
        <p:spPr>
          <a:xfrm>
            <a:off x="0" y="134937"/>
            <a:ext cx="11353800" cy="1690688"/>
          </a:xfrm>
        </p:spPr>
        <p:txBody>
          <a:bodyPr>
            <a:noAutofit/>
          </a:bodyPr>
          <a:lstStyle/>
          <a:p>
            <a:r>
              <a:rPr lang="en-US" sz="1600" b="1" dirty="0"/>
              <a:t>3. Profit Margin vs. Total Sales Price</a:t>
            </a:r>
            <a:br>
              <a:rPr lang="en-US" sz="1600" b="1" dirty="0"/>
            </a:br>
            <a:r>
              <a:rPr lang="en-US" sz="1600" b="1" dirty="0"/>
              <a:t>Correlation:</a:t>
            </a:r>
            <a:r>
              <a:rPr lang="en-US" sz="1600" dirty="0"/>
              <a:t> </a:t>
            </a:r>
            <a:r>
              <a:rPr lang="en-US" sz="1600" b="1" dirty="0"/>
              <a:t>Data Missing.</a:t>
            </a:r>
            <a:r>
              <a:rPr lang="en-US" sz="1600" dirty="0"/>
              <a:t> * </a:t>
            </a:r>
            <a:r>
              <a:rPr lang="en-US" sz="1600" b="1" dirty="0"/>
              <a:t>Inference:</a:t>
            </a:r>
            <a:r>
              <a:rPr lang="en-US" sz="1600" dirty="0"/>
              <a:t> While the data is blank, we see </a:t>
            </a:r>
            <a:r>
              <a:rPr lang="en-US" sz="1600" b="1" dirty="0"/>
              <a:t>Price</a:t>
            </a:r>
            <a:r>
              <a:rPr lang="en-US" sz="1600" dirty="0"/>
              <a:t> and </a:t>
            </a:r>
            <a:r>
              <a:rPr lang="en-US" sz="1600" b="1" dirty="0"/>
              <a:t>Purchase Price</a:t>
            </a:r>
            <a:r>
              <a:rPr lang="en-US" sz="1600" dirty="0"/>
              <a:t> are </a:t>
            </a:r>
            <a:r>
              <a:rPr lang="en-US" sz="1600" b="1" dirty="0"/>
              <a:t>0.99</a:t>
            </a:r>
            <a:r>
              <a:rPr lang="en-US" sz="1600" dirty="0"/>
              <a:t> correlated, meaning they move in lockstep, likely keeping margins thin but consistent.</a:t>
            </a:r>
            <a:br>
              <a:rPr lang="en-US" sz="1600" dirty="0"/>
            </a:br>
            <a:r>
              <a:rPr lang="en-US" sz="1600" b="1" dirty="0"/>
              <a:t>4. Stock Turnover vs. Profit Metrics</a:t>
            </a:r>
            <a:br>
              <a:rPr lang="en-US" sz="1600" b="1" dirty="0"/>
            </a:br>
            <a:r>
              <a:rPr lang="en-US" sz="1600" b="1" dirty="0"/>
              <a:t>Profit/Margin:</a:t>
            </a:r>
            <a:r>
              <a:rPr lang="en-US" sz="1600" dirty="0"/>
              <a:t> </a:t>
            </a:r>
            <a:r>
              <a:rPr lang="en-US" sz="1600" b="1" dirty="0"/>
              <a:t>Data Missing.</a:t>
            </a:r>
            <a:br>
              <a:rPr lang="en-US" sz="1600" dirty="0"/>
            </a:br>
            <a:r>
              <a:rPr lang="en-US" sz="1600" b="1" dirty="0"/>
              <a:t>Key Finding:</a:t>
            </a:r>
            <a:r>
              <a:rPr lang="en-US" sz="1600" dirty="0"/>
              <a:t> Stock Turnover is nearly identical (</a:t>
            </a:r>
            <a:r>
              <a:rPr lang="en-US" sz="1600" b="1" dirty="0"/>
              <a:t>0.95</a:t>
            </a:r>
            <a:r>
              <a:rPr lang="en-US" sz="1600" dirty="0"/>
              <a:t>) to the </a:t>
            </a:r>
            <a:r>
              <a:rPr lang="en-US" sz="1600" b="1" dirty="0"/>
              <a:t>Sales-to-Purchase Ratio</a:t>
            </a:r>
            <a:r>
              <a:rPr lang="en-US" sz="1600" dirty="0"/>
              <a:t>. This suggests "efficiency" is the primary driver of turnover rather than the price or volume of the items.</a:t>
            </a:r>
            <a:br>
              <a:rPr lang="en-US" sz="1600" dirty="0"/>
            </a:br>
            <a:endParaRPr lang="en-IN" sz="1600" dirty="0"/>
          </a:p>
        </p:txBody>
      </p:sp>
      <p:pic>
        <p:nvPicPr>
          <p:cNvPr id="5" name="Content Placeholder 4">
            <a:extLst>
              <a:ext uri="{FF2B5EF4-FFF2-40B4-BE49-F238E27FC236}">
                <a16:creationId xmlns:a16="http://schemas.microsoft.com/office/drawing/2014/main" id="{14CFFF00-3A3D-C897-7571-DEC900418E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9122" y="2543723"/>
            <a:ext cx="7221794" cy="4351338"/>
          </a:xfrm>
        </p:spPr>
      </p:pic>
      <p:sp>
        <p:nvSpPr>
          <p:cNvPr id="6" name="Title 1">
            <a:extLst>
              <a:ext uri="{FF2B5EF4-FFF2-40B4-BE49-F238E27FC236}">
                <a16:creationId xmlns:a16="http://schemas.microsoft.com/office/drawing/2014/main" id="{8C75FD92-BDF4-F0F7-7F8D-D1860AB7E454}"/>
              </a:ext>
            </a:extLst>
          </p:cNvPr>
          <p:cNvSpPr txBox="1">
            <a:spLocks/>
          </p:cNvSpPr>
          <p:nvPr/>
        </p:nvSpPr>
        <p:spPr>
          <a:xfrm>
            <a:off x="0" y="1733495"/>
            <a:ext cx="5335929" cy="4051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solidFill>
                  <a:srgbClr val="FF0000"/>
                </a:solidFill>
                <a:effectLst>
                  <a:outerShdw blurRad="38100" dist="38100" dir="2700000" algn="tl">
                    <a:srgbClr val="000000">
                      <a:alpha val="43137"/>
                    </a:srgbClr>
                  </a:outerShdw>
                </a:effectLst>
              </a:rPr>
              <a:t>Research Questions &amp; Key Findings</a:t>
            </a:r>
          </a:p>
        </p:txBody>
      </p:sp>
      <p:sp>
        <p:nvSpPr>
          <p:cNvPr id="7" name="Title 1">
            <a:extLst>
              <a:ext uri="{FF2B5EF4-FFF2-40B4-BE49-F238E27FC236}">
                <a16:creationId xmlns:a16="http://schemas.microsoft.com/office/drawing/2014/main" id="{3A5FBC38-0B2C-9DA6-8CED-D8241739EBDD}"/>
              </a:ext>
            </a:extLst>
          </p:cNvPr>
          <p:cNvSpPr txBox="1">
            <a:spLocks/>
          </p:cNvSpPr>
          <p:nvPr/>
        </p:nvSpPr>
        <p:spPr>
          <a:xfrm>
            <a:off x="408038" y="2138609"/>
            <a:ext cx="7221794" cy="4051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000" b="1" dirty="0">
                <a:effectLst>
                  <a:outerShdw blurRad="38100" dist="38100" dir="2700000" algn="tl">
                    <a:srgbClr val="000000">
                      <a:alpha val="43137"/>
                    </a:srgbClr>
                  </a:outerShdw>
                </a:effectLst>
              </a:rPr>
              <a:t>1.Brands for Promotional or Pricing Adjustments</a:t>
            </a:r>
          </a:p>
        </p:txBody>
      </p:sp>
    </p:spTree>
    <p:extLst>
      <p:ext uri="{BB962C8B-B14F-4D97-AF65-F5344CB8AC3E}">
        <p14:creationId xmlns:p14="http://schemas.microsoft.com/office/powerpoint/2010/main" val="1082662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D069-6DA8-4E8F-1965-E1117D9E1EC9}"/>
              </a:ext>
            </a:extLst>
          </p:cNvPr>
          <p:cNvSpPr>
            <a:spLocks noGrp="1"/>
          </p:cNvSpPr>
          <p:nvPr>
            <p:ph type="title"/>
          </p:nvPr>
        </p:nvSpPr>
        <p:spPr>
          <a:xfrm>
            <a:off x="0" y="-175649"/>
            <a:ext cx="12192000" cy="1325563"/>
          </a:xfrm>
        </p:spPr>
        <p:txBody>
          <a:bodyPr>
            <a:normAutofit/>
          </a:bodyPr>
          <a:lstStyle/>
          <a:p>
            <a:r>
              <a:rPr lang="en-US" sz="2000" b="1" i="1" dirty="0"/>
              <a:t>162 brands exhibit lower sales but higher profit margins, which could benefit from targeted marketing, promotions, or price optimizations to increase volume without compromising profitability.</a:t>
            </a:r>
            <a:endParaRPr lang="en-IN" sz="2000" b="1" i="1" dirty="0"/>
          </a:p>
        </p:txBody>
      </p:sp>
      <p:pic>
        <p:nvPicPr>
          <p:cNvPr id="5" name="Content Placeholder 4">
            <a:extLst>
              <a:ext uri="{FF2B5EF4-FFF2-40B4-BE49-F238E27FC236}">
                <a16:creationId xmlns:a16="http://schemas.microsoft.com/office/drawing/2014/main" id="{2E6E2737-B0AD-7A50-8283-4642071FAA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6917" y="1022554"/>
            <a:ext cx="10284541" cy="5417574"/>
          </a:xfrm>
        </p:spPr>
      </p:pic>
    </p:spTree>
    <p:extLst>
      <p:ext uri="{BB962C8B-B14F-4D97-AF65-F5344CB8AC3E}">
        <p14:creationId xmlns:p14="http://schemas.microsoft.com/office/powerpoint/2010/main" val="752054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8B606-0C44-CBC9-1E23-65B108C92971}"/>
              </a:ext>
            </a:extLst>
          </p:cNvPr>
          <p:cNvSpPr>
            <a:spLocks noGrp="1"/>
          </p:cNvSpPr>
          <p:nvPr>
            <p:ph type="title"/>
          </p:nvPr>
        </p:nvSpPr>
        <p:spPr>
          <a:xfrm>
            <a:off x="0" y="77954"/>
            <a:ext cx="12032224" cy="1347019"/>
          </a:xfrm>
        </p:spPr>
        <p:txBody>
          <a:bodyPr>
            <a:normAutofit fontScale="90000"/>
          </a:bodyPr>
          <a:lstStyle/>
          <a:p>
            <a:r>
              <a:rPr lang="en-US" sz="2400" b="1" i="1" dirty="0"/>
              <a:t>2. Top Vendors by Sales &amp; Purchase Contribution</a:t>
            </a:r>
            <a:br>
              <a:rPr lang="en-US" sz="2400" b="1" i="1" dirty="0"/>
            </a:br>
            <a:r>
              <a:rPr lang="en-US" sz="2400" i="1" dirty="0"/>
              <a:t>The top 10 vendors contribute 91.43% of total purchases, while the remaining vendors contribute only 8.6%. This over-reliance on a few vendors may introduce risks such as supply chain disruptions, indicating a need for diversification.</a:t>
            </a:r>
            <a:endParaRPr lang="en-IN" sz="2400" i="1" dirty="0"/>
          </a:p>
        </p:txBody>
      </p:sp>
      <p:pic>
        <p:nvPicPr>
          <p:cNvPr id="5" name="Content Placeholder 4">
            <a:extLst>
              <a:ext uri="{FF2B5EF4-FFF2-40B4-BE49-F238E27FC236}">
                <a16:creationId xmlns:a16="http://schemas.microsoft.com/office/drawing/2014/main" id="{88177FE0-8192-DE02-91EB-FB1AD05127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2322" y="1540983"/>
            <a:ext cx="8288593" cy="4973662"/>
          </a:xfrm>
        </p:spPr>
      </p:pic>
    </p:spTree>
    <p:extLst>
      <p:ext uri="{BB962C8B-B14F-4D97-AF65-F5344CB8AC3E}">
        <p14:creationId xmlns:p14="http://schemas.microsoft.com/office/powerpoint/2010/main" val="2462012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32820-9F09-3CCF-73CD-147283BDBA60}"/>
              </a:ext>
            </a:extLst>
          </p:cNvPr>
          <p:cNvSpPr>
            <a:spLocks noGrp="1"/>
          </p:cNvSpPr>
          <p:nvPr>
            <p:ph type="title"/>
          </p:nvPr>
        </p:nvSpPr>
        <p:spPr>
          <a:xfrm>
            <a:off x="0" y="0"/>
            <a:ext cx="12192000" cy="1612490"/>
          </a:xfrm>
        </p:spPr>
        <p:txBody>
          <a:bodyPr>
            <a:noAutofit/>
          </a:bodyPr>
          <a:lstStyle/>
          <a:p>
            <a:r>
              <a:rPr lang="en-US" sz="2000" b="1" i="1" dirty="0"/>
              <a:t>3. Impact of Bulk Purchasing on Cost Savings</a:t>
            </a:r>
            <a:br>
              <a:rPr lang="en-US" sz="2000" b="1" i="1" dirty="0"/>
            </a:br>
            <a:r>
              <a:rPr lang="en-US" sz="2000" dirty="0"/>
              <a:t>Bulk purchasing provides a lower unit cost of </a:t>
            </a:r>
            <a:r>
              <a:rPr lang="en-US" sz="2000" b="1" dirty="0"/>
              <a:t>$10.78</a:t>
            </a:r>
            <a:r>
              <a:rPr lang="en-US" sz="2000" dirty="0"/>
              <a:t> (or as low as </a:t>
            </a:r>
            <a:r>
              <a:rPr lang="en-US" sz="2000" b="1" dirty="0"/>
              <a:t>$9.02</a:t>
            </a:r>
            <a:r>
              <a:rPr lang="en-US" sz="2000" dirty="0"/>
              <a:t> for large orders), which helps maintain profitability as total sales increase.</a:t>
            </a:r>
            <a:br>
              <a:rPr lang="en-US" sz="2000" b="1" i="1" dirty="0"/>
            </a:br>
            <a:r>
              <a:rPr lang="en-US" sz="2000" dirty="0"/>
              <a:t>Lower unit costs from bulk purchasing (e.g., </a:t>
            </a:r>
            <a:r>
              <a:rPr lang="en-US" sz="2000" b="1" dirty="0"/>
              <a:t>$9.02</a:t>
            </a:r>
            <a:r>
              <a:rPr lang="en-US" sz="2000" dirty="0"/>
              <a:t> for large orders) support higher inventory velocity and turnover efficiency.</a:t>
            </a:r>
            <a:endParaRPr lang="en-IN" sz="2000" dirty="0"/>
          </a:p>
        </p:txBody>
      </p:sp>
      <p:pic>
        <p:nvPicPr>
          <p:cNvPr id="5" name="Content Placeholder 4">
            <a:extLst>
              <a:ext uri="{FF2B5EF4-FFF2-40B4-BE49-F238E27FC236}">
                <a16:creationId xmlns:a16="http://schemas.microsoft.com/office/drawing/2014/main" id="{D57B8E6D-8576-A347-57F9-1404BF3153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2259" y="1934355"/>
            <a:ext cx="6331974" cy="4393886"/>
          </a:xfrm>
        </p:spPr>
      </p:pic>
    </p:spTree>
    <p:extLst>
      <p:ext uri="{BB962C8B-B14F-4D97-AF65-F5344CB8AC3E}">
        <p14:creationId xmlns:p14="http://schemas.microsoft.com/office/powerpoint/2010/main" val="3363789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D50B1-7203-C0C9-11CC-C530B1772D24}"/>
              </a:ext>
            </a:extLst>
          </p:cNvPr>
          <p:cNvSpPr>
            <a:spLocks noGrp="1"/>
          </p:cNvSpPr>
          <p:nvPr>
            <p:ph type="title"/>
          </p:nvPr>
        </p:nvSpPr>
        <p:spPr>
          <a:xfrm>
            <a:off x="117987" y="365125"/>
            <a:ext cx="12074013" cy="1325563"/>
          </a:xfrm>
        </p:spPr>
        <p:txBody>
          <a:bodyPr>
            <a:noAutofit/>
          </a:bodyPr>
          <a:lstStyle/>
          <a:p>
            <a:r>
              <a:rPr lang="en-US" sz="2400" b="1" dirty="0"/>
              <a:t>4. Identifying Vendors with Low Inventory Turnover</a:t>
            </a:r>
            <a:br>
              <a:rPr lang="en-US" sz="2400" b="1" dirty="0"/>
            </a:br>
            <a:r>
              <a:rPr lang="en-US" sz="2400" b="1" dirty="0"/>
              <a:t>Capital Impact:</a:t>
            </a:r>
            <a:r>
              <a:rPr lang="en-US" sz="2400" dirty="0"/>
              <a:t> Total Unsold Inventory Capital stands at </a:t>
            </a:r>
            <a:r>
              <a:rPr lang="en-US" sz="2400" b="1" dirty="0"/>
              <a:t>$2.71M</a:t>
            </a:r>
            <a:r>
              <a:rPr lang="en-US" sz="2400" dirty="0"/>
              <a:t>, which can reduce cash flow efficiency.</a:t>
            </a:r>
            <a:br>
              <a:rPr lang="en-US" sz="2400" dirty="0"/>
            </a:br>
            <a:r>
              <a:rPr lang="en-US" sz="2400" b="1" dirty="0"/>
              <a:t>Operational Risk:</a:t>
            </a:r>
            <a:r>
              <a:rPr lang="en-US" sz="2400" dirty="0"/>
              <a:t> Slow-moving inventory increases storage costs and affects overall profitability.</a:t>
            </a:r>
            <a:br>
              <a:rPr lang="en-US" sz="2400" dirty="0"/>
            </a:br>
            <a:r>
              <a:rPr lang="en-US" sz="2400" b="1" dirty="0"/>
              <a:t>Vendor Analysis:</a:t>
            </a:r>
            <a:r>
              <a:rPr lang="en-US" sz="2400" dirty="0"/>
              <a:t> Identifying specific vendors with low turnover, such as those with high unsold values like Jim Beam Brands ($19,880.16M), allows for better stock management.</a:t>
            </a:r>
            <a:endParaRPr lang="en-IN" sz="2400" dirty="0"/>
          </a:p>
        </p:txBody>
      </p:sp>
      <p:pic>
        <p:nvPicPr>
          <p:cNvPr id="7" name="Content Placeholder 6">
            <a:extLst>
              <a:ext uri="{FF2B5EF4-FFF2-40B4-BE49-F238E27FC236}">
                <a16:creationId xmlns:a16="http://schemas.microsoft.com/office/drawing/2014/main" id="{7D6D257F-B186-381E-A5B9-36E673F2F0F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89937" y="2183994"/>
            <a:ext cx="4807974" cy="4522927"/>
          </a:xfrm>
        </p:spPr>
      </p:pic>
      <p:pic>
        <p:nvPicPr>
          <p:cNvPr id="5" name="Content Placeholder 4">
            <a:extLst>
              <a:ext uri="{FF2B5EF4-FFF2-40B4-BE49-F238E27FC236}">
                <a16:creationId xmlns:a16="http://schemas.microsoft.com/office/drawing/2014/main" id="{06D77D10-AED9-CC00-2025-3B197F5292F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953742" y="2211033"/>
            <a:ext cx="5558052" cy="4385343"/>
          </a:xfrm>
        </p:spPr>
      </p:pic>
    </p:spTree>
    <p:extLst>
      <p:ext uri="{BB962C8B-B14F-4D97-AF65-F5344CB8AC3E}">
        <p14:creationId xmlns:p14="http://schemas.microsoft.com/office/powerpoint/2010/main" val="2436703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84F7E-4CBF-A3FB-C17B-9969DE10415E}"/>
              </a:ext>
            </a:extLst>
          </p:cNvPr>
          <p:cNvSpPr>
            <a:spLocks noGrp="1"/>
          </p:cNvSpPr>
          <p:nvPr>
            <p:ph type="title"/>
          </p:nvPr>
        </p:nvSpPr>
        <p:spPr>
          <a:xfrm>
            <a:off x="71284" y="787912"/>
            <a:ext cx="12120716" cy="1325563"/>
          </a:xfrm>
        </p:spPr>
        <p:txBody>
          <a:bodyPr>
            <a:noAutofit/>
          </a:bodyPr>
          <a:lstStyle/>
          <a:p>
            <a:r>
              <a:rPr lang="en-US" sz="2000" b="1" dirty="0"/>
              <a:t>5. Profit Margin Comparison: High vs. Low-Performing Vendors</a:t>
            </a:r>
            <a:br>
              <a:rPr lang="en-US" sz="2000" b="1" dirty="0"/>
            </a:br>
            <a:r>
              <a:rPr lang="en-US" sz="2000" b="1" dirty="0"/>
              <a:t>Performance Gap</a:t>
            </a:r>
            <a:r>
              <a:rPr lang="en-US" sz="2000" dirty="0"/>
              <a:t>: Low-performing vendors maintain higher mean margins (</a:t>
            </a:r>
            <a:r>
              <a:rPr lang="en-US" sz="2000" b="1" dirty="0"/>
              <a:t>41.55%</a:t>
            </a:r>
            <a:r>
              <a:rPr lang="en-US" sz="2000" dirty="0"/>
              <a:t>) compared to top vendors (</a:t>
            </a:r>
            <a:r>
              <a:rPr lang="en-US" sz="2000" b="1" dirty="0"/>
              <a:t>31.17%</a:t>
            </a:r>
            <a:r>
              <a:rPr lang="en-US" sz="2000" dirty="0"/>
              <a:t>).</a:t>
            </a:r>
            <a:br>
              <a:rPr lang="en-US" sz="2000" dirty="0"/>
            </a:br>
            <a:r>
              <a:rPr lang="en-US" sz="2000" b="1" dirty="0"/>
              <a:t>Analysis</a:t>
            </a:r>
            <a:r>
              <a:rPr lang="en-US" sz="2000" dirty="0"/>
              <a:t>: Low-performing vendors struggle with sales volumes despite higher margins, indicating potential pricing inefficiencies or market reach issues.</a:t>
            </a:r>
            <a:br>
              <a:rPr lang="en-US" sz="2000" dirty="0"/>
            </a:br>
            <a:r>
              <a:rPr lang="en-US" sz="2000" b="1" dirty="0"/>
              <a:t>Actionable Insights</a:t>
            </a:r>
            <a:r>
              <a:rPr lang="en-US" sz="2000" dirty="0"/>
              <a:t>:</a:t>
            </a:r>
            <a:br>
              <a:rPr lang="en-US" sz="2000" dirty="0"/>
            </a:br>
            <a:r>
              <a:rPr lang="en-US" sz="2000" b="1" dirty="0"/>
              <a:t>Top-performing vendors</a:t>
            </a:r>
            <a:r>
              <a:rPr lang="en-US" sz="2000" dirty="0"/>
              <a:t>: Optimize profitability by adjusting pricing or reducing operational costs.</a:t>
            </a:r>
            <a:br>
              <a:rPr lang="en-US" sz="2000" dirty="0"/>
            </a:br>
            <a:r>
              <a:rPr lang="en-US" sz="2000" b="1" dirty="0"/>
              <a:t>Low-performing vendors</a:t>
            </a:r>
            <a:r>
              <a:rPr lang="en-US" sz="2000" dirty="0"/>
              <a:t>: Improve marketing efforts and optimize pricing strategies to enhance distribution.</a:t>
            </a:r>
            <a:br>
              <a:rPr lang="en-US" sz="2000" dirty="0"/>
            </a:br>
            <a:endParaRPr lang="en-IN" sz="2000" dirty="0"/>
          </a:p>
        </p:txBody>
      </p:sp>
      <p:pic>
        <p:nvPicPr>
          <p:cNvPr id="5" name="Content Placeholder 4">
            <a:extLst>
              <a:ext uri="{FF2B5EF4-FFF2-40B4-BE49-F238E27FC236}">
                <a16:creationId xmlns:a16="http://schemas.microsoft.com/office/drawing/2014/main" id="{5FB60D66-4D38-4A6F-EFFC-3B664B7A3E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6116" y="2432539"/>
            <a:ext cx="7851761" cy="4317306"/>
          </a:xfrm>
        </p:spPr>
      </p:pic>
    </p:spTree>
    <p:extLst>
      <p:ext uri="{BB962C8B-B14F-4D97-AF65-F5344CB8AC3E}">
        <p14:creationId xmlns:p14="http://schemas.microsoft.com/office/powerpoint/2010/main" val="2921951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DB9CE-9639-E088-F806-C2342C16CC30}"/>
              </a:ext>
            </a:extLst>
          </p:cNvPr>
          <p:cNvSpPr>
            <a:spLocks noGrp="1"/>
          </p:cNvSpPr>
          <p:nvPr>
            <p:ph type="ctrTitle"/>
          </p:nvPr>
        </p:nvSpPr>
        <p:spPr>
          <a:xfrm>
            <a:off x="0" y="3765"/>
            <a:ext cx="11995355" cy="2025112"/>
          </a:xfrm>
        </p:spPr>
        <p:txBody>
          <a:bodyPr>
            <a:noAutofit/>
          </a:bodyPr>
          <a:lstStyle/>
          <a:p>
            <a:pPr algn="l"/>
            <a:r>
              <a:rPr lang="en-US" sz="2000" b="1" dirty="0"/>
              <a:t>6. Statistical Validation of Profit Margin Differences</a:t>
            </a:r>
            <a:br>
              <a:rPr lang="en-US" sz="1600" dirty="0"/>
            </a:br>
            <a:br>
              <a:rPr lang="en-US" sz="1600" dirty="0"/>
            </a:br>
            <a:r>
              <a:rPr lang="en-US" sz="1800" dirty="0"/>
              <a:t>Hypothesis Testing:</a:t>
            </a:r>
            <a:br>
              <a:rPr lang="en-US" sz="1800" dirty="0"/>
            </a:br>
            <a:r>
              <a:rPr lang="en-US" sz="1800" dirty="0"/>
              <a:t>Ho (Null Hypothesis): No significant difference in profit margins between top and low-performing vendors.</a:t>
            </a:r>
            <a:br>
              <a:rPr lang="en-US" sz="1800" dirty="0"/>
            </a:br>
            <a:r>
              <a:rPr lang="en-US" sz="1800" dirty="0"/>
              <a:t>H. (Alternative Hypothesis): A significant difference exists in profit margins between the two vendor groups.</a:t>
            </a:r>
            <a:br>
              <a:rPr lang="en-US" sz="1800" dirty="0"/>
            </a:br>
            <a:r>
              <a:rPr lang="en-US" sz="1800" dirty="0"/>
              <a:t>Result: The null hypothesis is rejected, confirming that the two groups operate under distinctly different profitability models.</a:t>
            </a:r>
            <a:br>
              <a:rPr lang="en-US" sz="1800" dirty="0"/>
            </a:br>
            <a:r>
              <a:rPr lang="en-US" sz="1800" dirty="0"/>
              <a:t>Implication: High-margin vendors may benefit from better pricing strategies, while top-selling vendors could focus on cost efficiency</a:t>
            </a:r>
            <a:endParaRPr lang="en-IN" sz="1800" dirty="0"/>
          </a:p>
        </p:txBody>
      </p:sp>
      <p:sp>
        <p:nvSpPr>
          <p:cNvPr id="3" name="Subtitle 2">
            <a:extLst>
              <a:ext uri="{FF2B5EF4-FFF2-40B4-BE49-F238E27FC236}">
                <a16:creationId xmlns:a16="http://schemas.microsoft.com/office/drawing/2014/main" id="{D22FF9A8-A64B-A73D-E08C-DD0A6BB68111}"/>
              </a:ext>
            </a:extLst>
          </p:cNvPr>
          <p:cNvSpPr>
            <a:spLocks noGrp="1"/>
          </p:cNvSpPr>
          <p:nvPr>
            <p:ph type="subTitle" idx="1"/>
          </p:nvPr>
        </p:nvSpPr>
        <p:spPr>
          <a:xfrm>
            <a:off x="-2035279" y="2224780"/>
            <a:ext cx="7305368" cy="370194"/>
          </a:xfrm>
        </p:spPr>
        <p:txBody>
          <a:bodyPr>
            <a:normAutofit fontScale="85000" lnSpcReduction="20000"/>
          </a:bodyPr>
          <a:lstStyle/>
          <a:p>
            <a:r>
              <a:rPr lang="en-IN" sz="2800" b="1" dirty="0">
                <a:solidFill>
                  <a:srgbClr val="C00000"/>
                </a:solidFill>
              </a:rPr>
              <a:t>Final Recommendations</a:t>
            </a:r>
          </a:p>
        </p:txBody>
      </p:sp>
      <p:sp>
        <p:nvSpPr>
          <p:cNvPr id="4" name="Subtitle 2">
            <a:extLst>
              <a:ext uri="{FF2B5EF4-FFF2-40B4-BE49-F238E27FC236}">
                <a16:creationId xmlns:a16="http://schemas.microsoft.com/office/drawing/2014/main" id="{A441EDFC-BC2F-E9C0-2F35-CE6DDA21D380}"/>
              </a:ext>
            </a:extLst>
          </p:cNvPr>
          <p:cNvSpPr txBox="1">
            <a:spLocks/>
          </p:cNvSpPr>
          <p:nvPr/>
        </p:nvSpPr>
        <p:spPr>
          <a:xfrm>
            <a:off x="-1" y="2763049"/>
            <a:ext cx="11243189" cy="37019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1800" dirty="0"/>
              <a:t>Re-evaluate pricing for low-sales, high-margin brands to boost sales volume without sacrificing profitability.</a:t>
            </a:r>
            <a:endParaRPr lang="en-IN" sz="1800" dirty="0"/>
          </a:p>
        </p:txBody>
      </p:sp>
      <p:sp>
        <p:nvSpPr>
          <p:cNvPr id="5" name="Subtitle 2">
            <a:extLst>
              <a:ext uri="{FF2B5EF4-FFF2-40B4-BE49-F238E27FC236}">
                <a16:creationId xmlns:a16="http://schemas.microsoft.com/office/drawing/2014/main" id="{E3BFB343-0F4B-4A54-2A18-203E2BCF1292}"/>
              </a:ext>
            </a:extLst>
          </p:cNvPr>
          <p:cNvSpPr txBox="1">
            <a:spLocks/>
          </p:cNvSpPr>
          <p:nvPr/>
        </p:nvSpPr>
        <p:spPr>
          <a:xfrm>
            <a:off x="0" y="3390366"/>
            <a:ext cx="11243189" cy="37019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1800" dirty="0"/>
              <a:t>Diversify vendor partnerships to reduce dependency on a few suppliers and mitigate supply chain risks.</a:t>
            </a:r>
            <a:endParaRPr lang="en-IN" sz="1800" dirty="0"/>
          </a:p>
        </p:txBody>
      </p:sp>
      <p:sp>
        <p:nvSpPr>
          <p:cNvPr id="6" name="Subtitle 2">
            <a:extLst>
              <a:ext uri="{FF2B5EF4-FFF2-40B4-BE49-F238E27FC236}">
                <a16:creationId xmlns:a16="http://schemas.microsoft.com/office/drawing/2014/main" id="{5013C506-95D6-7388-B884-2286774B3C43}"/>
              </a:ext>
            </a:extLst>
          </p:cNvPr>
          <p:cNvSpPr txBox="1">
            <a:spLocks/>
          </p:cNvSpPr>
          <p:nvPr/>
        </p:nvSpPr>
        <p:spPr>
          <a:xfrm>
            <a:off x="-2" y="3995097"/>
            <a:ext cx="11243189" cy="37019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1800" dirty="0"/>
              <a:t>Leverage bulk purchasing advantages to maintain competitive pricing while optimizing inventory management.</a:t>
            </a:r>
            <a:endParaRPr lang="en-IN" sz="1800" dirty="0"/>
          </a:p>
        </p:txBody>
      </p:sp>
      <p:sp>
        <p:nvSpPr>
          <p:cNvPr id="7" name="Subtitle 2">
            <a:extLst>
              <a:ext uri="{FF2B5EF4-FFF2-40B4-BE49-F238E27FC236}">
                <a16:creationId xmlns:a16="http://schemas.microsoft.com/office/drawing/2014/main" id="{23938CA3-0387-C220-F568-6AB64ABE4469}"/>
              </a:ext>
            </a:extLst>
          </p:cNvPr>
          <p:cNvSpPr txBox="1">
            <a:spLocks/>
          </p:cNvSpPr>
          <p:nvPr/>
        </p:nvSpPr>
        <p:spPr>
          <a:xfrm>
            <a:off x="-469492" y="4751855"/>
            <a:ext cx="11801170" cy="37019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buFont typeface="Wingdings" panose="05000000000000000000" pitchFamily="2" charset="2"/>
              <a:buChar char="q"/>
            </a:pPr>
            <a:r>
              <a:rPr lang="en-US" sz="1800" dirty="0"/>
              <a:t> </a:t>
            </a:r>
            <a:r>
              <a:rPr lang="en-US" sz="1800" dirty="0" err="1"/>
              <a:t>Optimise</a:t>
            </a:r>
            <a:r>
              <a:rPr lang="en-US" sz="1800" dirty="0"/>
              <a:t> slow-moving inventory by adjusting purchase quantities, launching clearance sales, or revising storage strategies.</a:t>
            </a:r>
            <a:endParaRPr lang="en-IN" sz="1800" dirty="0"/>
          </a:p>
        </p:txBody>
      </p:sp>
      <p:sp>
        <p:nvSpPr>
          <p:cNvPr id="8" name="Subtitle 2">
            <a:extLst>
              <a:ext uri="{FF2B5EF4-FFF2-40B4-BE49-F238E27FC236}">
                <a16:creationId xmlns:a16="http://schemas.microsoft.com/office/drawing/2014/main" id="{A9F15A98-BB9D-61E6-03AD-F271280BDA31}"/>
              </a:ext>
            </a:extLst>
          </p:cNvPr>
          <p:cNvSpPr txBox="1">
            <a:spLocks/>
          </p:cNvSpPr>
          <p:nvPr/>
        </p:nvSpPr>
        <p:spPr>
          <a:xfrm>
            <a:off x="-469492" y="5472439"/>
            <a:ext cx="11801170" cy="37019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buFont typeface="Wingdings" panose="05000000000000000000" pitchFamily="2" charset="2"/>
              <a:buChar char="q"/>
            </a:pPr>
            <a:r>
              <a:rPr lang="en-US" sz="1800" dirty="0"/>
              <a:t>Enhance marketing and distribution strategies for low-performing vendors to drive higher sales volumes without compromising profit margins</a:t>
            </a:r>
            <a:endParaRPr lang="en-IN" sz="1800" dirty="0"/>
          </a:p>
        </p:txBody>
      </p:sp>
      <p:sp>
        <p:nvSpPr>
          <p:cNvPr id="9" name="Subtitle 2">
            <a:extLst>
              <a:ext uri="{FF2B5EF4-FFF2-40B4-BE49-F238E27FC236}">
                <a16:creationId xmlns:a16="http://schemas.microsoft.com/office/drawing/2014/main" id="{F7BFBB82-C54B-4765-ED43-4E86BAE1E1FE}"/>
              </a:ext>
            </a:extLst>
          </p:cNvPr>
          <p:cNvSpPr txBox="1">
            <a:spLocks/>
          </p:cNvSpPr>
          <p:nvPr/>
        </p:nvSpPr>
        <p:spPr>
          <a:xfrm>
            <a:off x="-68828" y="6193023"/>
            <a:ext cx="11801170" cy="37019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buFont typeface="Wingdings" panose="05000000000000000000" pitchFamily="2" charset="2"/>
              <a:buChar char="q"/>
            </a:pPr>
            <a:r>
              <a:rPr lang="en-US" sz="1800" dirty="0"/>
              <a:t>By implementing these recommendations, the company can achieve sustainable profitability, mitigate risks, and enhance overall operational efficiency</a:t>
            </a:r>
            <a:endParaRPr lang="en-IN" sz="1800" dirty="0"/>
          </a:p>
        </p:txBody>
      </p:sp>
    </p:spTree>
    <p:extLst>
      <p:ext uri="{BB962C8B-B14F-4D97-AF65-F5344CB8AC3E}">
        <p14:creationId xmlns:p14="http://schemas.microsoft.com/office/powerpoint/2010/main" val="32886364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1160</Words>
  <Application>Microsoft Office PowerPoint</Application>
  <PresentationFormat>Widescreen</PresentationFormat>
  <Paragraphs>37</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Office Theme</vt:lpstr>
      <vt:lpstr>Exploratory Data Analysis Insights</vt:lpstr>
      <vt:lpstr>Vendor and Brand Diversity: The wide range and standard deviation in VendorNumber and Brand suggest a diverse set of vendors and a large number of unique brands, which is expected in a broad inventory dataset.  Pricing Trends: Price (selling price) and PurchasePrice show different ranges and averages, suggesting variations in pricing strategies and cost structures across products. </vt:lpstr>
      <vt:lpstr>Freight Costs and Outliers: TotalFreightCost also exhibits significant variability and a high standard deviation, which implies that certain vendors or transactions incur much higher freight costs, potentially impacting profitability. These higher costs could be considered outliers in the distribution of freight costs.  GrossProfit and ProfitMargin Observation: A critical insight is that both GrossProfit and ProfitMargin show a mean, median (50%), and 75th percentile of 0.0. This is a direct consequence of the non-negative profit rule we applied. It implies that for a significant portion of the entries, the calculated profit was initially negative or zero, and was subsequently floored to zero. This highlights areas where products or vendors might be unprofitable, requiring further investigation into their sales, purchase, and cost structures to understand why they are not generating positive gross profit.  Ratios (StockTurnover, SalestoPurchaseRatio): bold text Both StockTurnover and SalestoPurchaseRatio have very small mean values but relatively high standard deviations, with some extremely high maximum values. This again points to the existence of outliers where a few products or vendors might be performing exceptionally well in terms of inventory movement and sales efficiency, while the majority exhibit lower performance.  Significant Variability and Outliers in Sales and Purchases: Metrics like TotalSalesQuantity, TotalSalesDollars, TotalPurchaseQuantity, and TotalPurchaseDollars show very large differences between their minimum, median (50%), and maximum values. Crucially, their high standard deviations relative to their means strongly indicate the presence of outliers. This means a few vendors/brands likely dominate sales and purchase volumes, while many others have smaller contributions. The max values are considerably higher than the mean, explicitly pointing to these potential outliers or highly successful products/vendors that skew the distribution. </vt:lpstr>
      <vt:lpstr>correlation Insights</vt:lpstr>
      <vt:lpstr>3. Profit Margin vs. Total Sales Price Correlation: Data Missing. * Inference: While the data is blank, we see Price and Purchase Price are 0.99 correlated, meaning they move in lockstep, likely keeping margins thin but consistent. 4. Stock Turnover vs. Profit Metrics Profit/Margin: Data Missing. Key Finding: Stock Turnover is nearly identical (0.95) to the Sales-to-Purchase Ratio. This suggests "efficiency" is the primary driver of turnover rather than the price or volume of the items. </vt:lpstr>
      <vt:lpstr>162 brands exhibit lower sales but higher profit margins, which could benefit from targeted marketing, promotions, or price optimizations to increase volume without compromising profitability.</vt:lpstr>
      <vt:lpstr>2. Top Vendors by Sales &amp; Purchase Contribution The top 10 vendors contribute 91.43% of total purchases, while the remaining vendors contribute only 8.6%. This over-reliance on a few vendors may introduce risks such as supply chain disruptions, indicating a need for diversification.</vt:lpstr>
      <vt:lpstr>3. Impact of Bulk Purchasing on Cost Savings Bulk purchasing provides a lower unit cost of $10.78 (or as low as $9.02 for large orders), which helps maintain profitability as total sales increase. Lower unit costs from bulk purchasing (e.g., $9.02 for large orders) support higher inventory velocity and turnover efficiency.</vt:lpstr>
      <vt:lpstr>4. Identifying Vendors with Low Inventory Turnover Capital Impact: Total Unsold Inventory Capital stands at $2.71M, which can reduce cash flow efficiency. Operational Risk: Slow-moving inventory increases storage costs and affects overall profitability. Vendor Analysis: Identifying specific vendors with low turnover, such as those with high unsold values like Jim Beam Brands ($19,880.16M), allows for better stock management.</vt:lpstr>
      <vt:lpstr>5. Profit Margin Comparison: High vs. Low-Performing Vendors Performance Gap: Low-performing vendors maintain higher mean margins (41.55%) compared to top vendors (31.17%). Analysis: Low-performing vendors struggle with sales volumes despite higher margins, indicating potential pricing inefficiencies or market reach issues. Actionable Insights: Top-performing vendors: Optimize profitability by adjusting pricing or reducing operational costs. Low-performing vendors: Improve marketing efforts and optimize pricing strategies to enhance distribution. </vt:lpstr>
      <vt:lpstr>6. Statistical Validation of Profit Margin Differences  Hypothesis Testing: Ho (Null Hypothesis): No significant difference in profit margins between top and low-performing vendors. H. (Alternative Hypothesis): A significant difference exists in profit margins between the two vendor groups. Result: The null hypothesis is rejected, confirming that the two groups operate under distinctly different profitability models. Implication: High-margin vendors may benefit from better pricing strategies, while top-selling vendors could focus on cost efficiency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kustav ta</dc:creator>
  <cp:lastModifiedBy>kustav ta</cp:lastModifiedBy>
  <cp:revision>1</cp:revision>
  <dcterms:created xsi:type="dcterms:W3CDTF">2025-12-12T14:18:55Z</dcterms:created>
  <dcterms:modified xsi:type="dcterms:W3CDTF">2025-12-12T16:49:56Z</dcterms:modified>
</cp:coreProperties>
</file>